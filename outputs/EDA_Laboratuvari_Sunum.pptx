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İrfan Kaan Algan" userId="fbb60f3109604ad9" providerId="LiveId" clId="{34EFFDF1-CF62-42AB-AAD0-0D50D35ACC65}"/>
    <pc:docChg chg="undo custSel modSld">
      <pc:chgData name="İrfan Kaan Algan" userId="fbb60f3109604ad9" providerId="LiveId" clId="{34EFFDF1-CF62-42AB-AAD0-0D50D35ACC65}" dt="2026-04-02T09:20:22.042" v="8" actId="1076"/>
      <pc:docMkLst>
        <pc:docMk/>
      </pc:docMkLst>
      <pc:sldChg chg="modSp mod">
        <pc:chgData name="İrfan Kaan Algan" userId="fbb60f3109604ad9" providerId="LiveId" clId="{34EFFDF1-CF62-42AB-AAD0-0D50D35ACC65}" dt="2026-04-02T09:20:22.042" v="8" actId="1076"/>
        <pc:sldMkLst>
          <pc:docMk/>
          <pc:sldMk cId="0" sldId="256"/>
        </pc:sldMkLst>
        <pc:spChg chg="mod">
          <ac:chgData name="İrfan Kaan Algan" userId="fbb60f3109604ad9" providerId="LiveId" clId="{34EFFDF1-CF62-42AB-AAD0-0D50D35ACC65}" dt="2026-04-02T09:20:22.042" v="8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İrfan Kaan Algan" userId="fbb60f3109604ad9" providerId="LiveId" clId="{34EFFDF1-CF62-42AB-AAD0-0D50D35ACC65}" dt="2026-04-02T09:19:00.341" v="1" actId="1076"/>
        <pc:sldMkLst>
          <pc:docMk/>
          <pc:sldMk cId="0" sldId="257"/>
        </pc:sldMkLst>
        <pc:spChg chg="mod">
          <ac:chgData name="İrfan Kaan Algan" userId="fbb60f3109604ad9" providerId="LiveId" clId="{34EFFDF1-CF62-42AB-AAD0-0D50D35ACC65}" dt="2026-04-02T09:19:00.341" v="1" actId="107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İrfan Kaan Algan" userId="fbb60f3109604ad9" providerId="LiveId" clId="{34EFFDF1-CF62-42AB-AAD0-0D50D35ACC65}" dt="2026-04-02T09:20:00.126" v="3" actId="20577"/>
        <pc:sldMkLst>
          <pc:docMk/>
          <pc:sldMk cId="0" sldId="258"/>
        </pc:sldMkLst>
        <pc:spChg chg="mod">
          <ac:chgData name="İrfan Kaan Algan" userId="fbb60f3109604ad9" providerId="LiveId" clId="{34EFFDF1-CF62-42AB-AAD0-0D50D35ACC65}" dt="2026-04-02T09:20:00.126" v="3" actId="20577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0" y="1645920"/>
            <a:ext cx="3931920" cy="36576"/>
          </a:xfrm>
          <a:prstGeom prst="roundRect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992916"/>
            <a:ext cx="8503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EAF0"/>
                </a:solidFill>
                <a:latin typeface="Segoe UI"/>
              </a:defRPr>
            </a:pPr>
            <a:r>
              <a:rPr dirty="0"/>
              <a:t>EDA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DA8FF"/>
                </a:solidFill>
                <a:latin typeface="Segoe UI"/>
              </a:defRPr>
            </a:pPr>
            <a:r>
              <a:rPr dirty="0" err="1"/>
              <a:t>Kredi</a:t>
            </a:r>
            <a:r>
              <a:rPr dirty="0"/>
              <a:t> </a:t>
            </a:r>
            <a:r>
              <a:rPr dirty="0" err="1"/>
              <a:t>Riski</a:t>
            </a:r>
            <a:r>
              <a:rPr dirty="0"/>
              <a:t> </a:t>
            </a:r>
            <a:r>
              <a:rPr dirty="0" err="1"/>
              <a:t>Modellemede</a:t>
            </a:r>
            <a:r>
              <a:rPr dirty="0"/>
              <a:t> </a:t>
            </a:r>
            <a:r>
              <a:rPr dirty="0" err="1"/>
              <a:t>Uçtan</a:t>
            </a:r>
            <a:r>
              <a:rPr dirty="0"/>
              <a:t> Uca Analiz </a:t>
            </a:r>
            <a:r>
              <a:rPr dirty="0" err="1"/>
              <a:t>Platformu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114800" y="3931920"/>
            <a:ext cx="3931920" cy="36576"/>
          </a:xfrm>
          <a:prstGeom prst="roundRect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E8FA4"/>
                </a:solidFill>
                <a:latin typeface="Segoe UI"/>
              </a:defRPr>
            </a:pPr>
            <a:r>
              <a:t>Geliştirme  ·  İzleme  ·  Raporlama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F0"/>
                </a:solidFill>
                <a:latin typeface="Segoe UI"/>
              </a:defRPr>
            </a:pPr>
            <a:r>
              <a:t>Mevcut Süreçteki Zorluklar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Tekrarlayan İş Yükü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Her yeni model çalışmasında veri çekme, temizleme ve değişken analizi adımları sıfırdan tekrarlanıyor.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Standart Eksikliği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Farklı analistler farklı yöntem ve araçlar kullanıyor; sonuçları karşılaştırmak güçleşiyor.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Manuel İzleme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Model performansı Excel tablolarıyla takip ediliyor; güncel olmayan raporlar risk oluşturuyor.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120640" cy="201168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663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Bilgi Siloları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Model konfigürasyonları kişisel bilgisayarlarda kalıyor; kişi değiştiğinde bilgi kaybı yaşanıyor.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F0"/>
                </a:solidFill>
                <a:latin typeface="Segoe UI"/>
              </a:defRPr>
            </a:pPr>
            <a:r>
              <a:rPr dirty="0"/>
              <a:t>EDA Lab</a:t>
            </a:r>
            <a:r>
              <a:rPr lang="tr-TR" dirty="0"/>
              <a:t> </a:t>
            </a:r>
            <a:r>
              <a:rPr dirty="0"/>
              <a:t>Ne </a:t>
            </a:r>
            <a:r>
              <a:rPr dirty="0" err="1"/>
              <a:t>Sunuyor</a:t>
            </a:r>
            <a:r>
              <a:rPr dirty="0"/>
              <a:t>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E8FA4"/>
                </a:solidFill>
                <a:latin typeface="Segoe UI"/>
              </a:defRPr>
            </a:pPr>
            <a:r>
              <a:t>Veri keşfinden model izlemeye kadar tüm süreci tek platformda birleştirir.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474720" cy="18288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Otomatik Veri Profili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Veri yüklenir yüklenmez eksik değer analizi, dağılım, IV skoru ve korelasyon hazır.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3474720" cy="18288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Akıllı Değişken Seçimi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Gini, Zero-Gain, RFE ve performans eğrisi ile gereksiz değişkenler otomatik elenir.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474720" cy="18288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Esnek Modelleme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LightGBM, XGBoost, Lojistik Regresyon — parametreler elle veya Optuna ile optimize edilir.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474720" cy="18288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Canlı İzleme Paneli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PSI, Gini/KS trendi, temerrüt oranı, göç matrisi ve backtesting tek ekranda.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297680"/>
            <a:ext cx="3474720" cy="18288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Profil Kaydet &amp; Paylaş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03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konfigürasyon</a:t>
            </a:r>
            <a:r>
              <a:rPr dirty="0"/>
              <a:t> </a:t>
            </a:r>
            <a:r>
              <a:rPr dirty="0" err="1"/>
              <a:t>kaydedilir</a:t>
            </a:r>
            <a:r>
              <a:rPr dirty="0"/>
              <a:t>; </a:t>
            </a:r>
            <a:r>
              <a:rPr dirty="0" err="1"/>
              <a:t>ekip</a:t>
            </a:r>
            <a:r>
              <a:rPr dirty="0"/>
              <a:t> </a:t>
            </a:r>
            <a:r>
              <a:rPr dirty="0" err="1"/>
              <a:t>arkadaşı</a:t>
            </a:r>
            <a:r>
              <a:rPr dirty="0"/>
              <a:t>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profili</a:t>
            </a:r>
            <a:r>
              <a:rPr dirty="0"/>
              <a:t> </a:t>
            </a:r>
            <a:r>
              <a:rPr dirty="0" err="1"/>
              <a:t>yükleyip</a:t>
            </a:r>
            <a:r>
              <a:rPr dirty="0"/>
              <a:t> </a:t>
            </a:r>
            <a:r>
              <a:rPr dirty="0" err="1"/>
              <a:t>devam</a:t>
            </a:r>
            <a:r>
              <a:rPr dirty="0"/>
              <a:t> </a:t>
            </a:r>
            <a:r>
              <a:rPr dirty="0" err="1"/>
              <a:t>eder</a:t>
            </a:r>
            <a:r>
              <a:rPr dirty="0"/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297680"/>
            <a:ext cx="3474720" cy="18288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F0"/>
                </a:solidFill>
                <a:latin typeface="Segoe UI"/>
              </a:defRPr>
            </a:pPr>
            <a:r>
              <a:t>Standart Metodoloji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03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8FA4"/>
                </a:solidFill>
                <a:latin typeface="Segoe UI"/>
              </a:defRPr>
            </a:pPr>
            <a:r>
              <a:t>Herkes aynı metrikleri, aynı kuralları kullanır — denetim ve karşılaştırma kolaylaşır.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F0"/>
                </a:solidFill>
                <a:latin typeface="Segoe UI"/>
              </a:defRPr>
            </a:pPr>
            <a:r>
              <a:t>Model Geliştirme Akışı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011680" cy="27432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8EF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EAF0"/>
                </a:solidFill>
                <a:latin typeface="Segoe UI"/>
              </a:defRPr>
            </a:pPr>
            <a:r>
              <a:t>Veri Yükle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E8FA4"/>
                </a:solidFill>
                <a:latin typeface="Segoe UI"/>
              </a:defRPr>
            </a:pPr>
            <a:r>
              <a:t>SQL veya CSV ile</a:t>
            </a:r>
            <a:br/>
            <a:r>
              <a:t>çoklu tablo birleştir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8EF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011680"/>
            <a:ext cx="2011680" cy="27432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8EF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EAF0"/>
                </a:solidFill>
                <a:latin typeface="Segoe UI"/>
              </a:defRPr>
            </a:pPr>
            <a:r>
              <a:t>Keşfet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E8FA4"/>
                </a:solidFill>
                <a:latin typeface="Segoe UI"/>
              </a:defRPr>
            </a:pPr>
            <a:r>
              <a:t>Dağılım, IV, korelasyon</a:t>
            </a:r>
            <a:br/>
            <a:r>
              <a:t>ve outlier analizi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8EF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2011680" cy="27432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8EF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EAF0"/>
                </a:solidFill>
                <a:latin typeface="Segoe UI"/>
              </a:defRPr>
            </a:pPr>
            <a:r>
              <a:t>Değişken 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E8FA4"/>
                </a:solidFill>
                <a:latin typeface="Segoe UI"/>
              </a:defRPr>
            </a:pPr>
            <a:r>
              <a:t>Otomatik pipeline ile</a:t>
            </a:r>
            <a:br/>
            <a:r>
              <a:t>en uygun setini seç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8EF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011680"/>
            <a:ext cx="2011680" cy="27432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8EF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EAF0"/>
                </a:solidFill>
                <a:latin typeface="Segoe UI"/>
              </a:defRPr>
            </a:pPr>
            <a:r>
              <a:t>Modelle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E8FA4"/>
                </a:solidFill>
                <a:latin typeface="Segoe UI"/>
              </a:defRPr>
            </a:pPr>
            <a:r>
              <a:t>Algoritma seç,</a:t>
            </a:r>
            <a:br/>
            <a:r>
              <a:t>Optuna ile optimize 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8EF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011680"/>
            <a:ext cx="2011680" cy="27432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8EF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EAF0"/>
                </a:solidFill>
                <a:latin typeface="Segoe UI"/>
              </a:defRPr>
            </a:pPr>
            <a:r>
              <a:t>Kaydet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E8FA4"/>
                </a:solidFill>
                <a:latin typeface="Segoe UI"/>
              </a:defRPr>
            </a:pPr>
            <a:r>
              <a:t>Profil olarak sakla</a:t>
            </a:r>
            <a:br/>
            <a:r>
              <a:t>ve ekiple paylaş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E8FA4"/>
                </a:solidFill>
                <a:latin typeface="Segoe UI"/>
              </a:defRPr>
            </a:pPr>
            <a:r>
              <a:rPr dirty="0"/>
              <a:t>Her </a:t>
            </a:r>
            <a:r>
              <a:rPr dirty="0" err="1"/>
              <a:t>adım</a:t>
            </a:r>
            <a:r>
              <a:rPr dirty="0"/>
              <a:t> </a:t>
            </a:r>
            <a:r>
              <a:rPr dirty="0" err="1"/>
              <a:t>isteğe</a:t>
            </a:r>
            <a:r>
              <a:rPr dirty="0"/>
              <a:t> </a:t>
            </a:r>
            <a:r>
              <a:rPr dirty="0" err="1"/>
              <a:t>bağlı</a:t>
            </a:r>
            <a:r>
              <a:rPr dirty="0"/>
              <a:t> </a:t>
            </a:r>
            <a:r>
              <a:rPr dirty="0" err="1"/>
              <a:t>tekrarlanabilir</a:t>
            </a:r>
            <a:r>
              <a:rPr dirty="0"/>
              <a:t> — </a:t>
            </a:r>
            <a:r>
              <a:rPr dirty="0" err="1"/>
              <a:t>analist</a:t>
            </a:r>
            <a:r>
              <a:rPr dirty="0"/>
              <a:t> </a:t>
            </a:r>
            <a:r>
              <a:rPr dirty="0" err="1"/>
              <a:t>kendi</a:t>
            </a:r>
            <a:r>
              <a:rPr dirty="0"/>
              <a:t> </a:t>
            </a:r>
            <a:r>
              <a:rPr dirty="0" err="1"/>
              <a:t>hızında</a:t>
            </a:r>
            <a:r>
              <a:rPr dirty="0"/>
              <a:t> </a:t>
            </a:r>
            <a:r>
              <a:rPr dirty="0" err="1"/>
              <a:t>ilerler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F0"/>
                </a:solidFill>
                <a:latin typeface="Segoe UI"/>
              </a:defRPr>
            </a:pPr>
            <a:r>
              <a:t>İzleme &amp; Profil Yönetimi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📈  Canlı Model İzleme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PSI ile değişken bazlı dağılım kayması tespiti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Gini / KS trendi — model ayrım gücü takibi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Temerrüt oranı periyodik izleme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Göç matrisi ile rating geçiş analizi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Backtesting — modelin gerçek performansı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Referans vs. güncel veri otomatik karşılaştırma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16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💾  Profil Kaydet &amp; Paylaş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Tüm analiz ayarları tek profilde saklanır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Segment bazlı ayrı profiller oluşturulabilir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Ekip arkadaşı profili yükleyip devam eder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Denetim için analiz geçmişi korunur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Model bilgisi kişiye bağımlı olmaktan çıkar</a:t>
            </a:r>
          </a:p>
          <a:p>
            <a:pPr>
              <a:spcAft>
                <a:spcPts val="1000"/>
              </a:spcAft>
              <a:defRPr sz="1400">
                <a:solidFill>
                  <a:srgbClr val="C8CDD8"/>
                </a:solidFill>
                <a:latin typeface="Segoe UI"/>
              </a:defRPr>
            </a:pPr>
            <a:r>
              <a:t>▸  Standart iş akışı tüm ekipte ortak hale gelir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0" y="1645920"/>
            <a:ext cx="3931920" cy="36576"/>
          </a:xfrm>
          <a:prstGeom prst="roundRect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AF0"/>
                </a:solidFill>
                <a:latin typeface="Segoe UI"/>
              </a:defRPr>
            </a:pPr>
            <a:r>
              <a:t>Kazanımlar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92608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C8CDD8"/>
                </a:solidFill>
                <a:latin typeface="Segoe UI"/>
              </a:defRPr>
            </a:pPr>
            <a:r>
              <a:t>▸  Tekrarlayan manuel işlemler ortadan kalkar</a:t>
            </a:r>
          </a:p>
          <a:p>
            <a:pPr>
              <a:spcAft>
                <a:spcPts val="1400"/>
              </a:spcAft>
              <a:defRPr sz="1700">
                <a:solidFill>
                  <a:srgbClr val="C8CDD8"/>
                </a:solidFill>
                <a:latin typeface="Segoe UI"/>
              </a:defRPr>
            </a:pPr>
            <a:r>
              <a:t>▸  Tüm ekip aynı standart metodoloji ile çalışır</a:t>
            </a:r>
          </a:p>
          <a:p>
            <a:pPr>
              <a:spcAft>
                <a:spcPts val="1400"/>
              </a:spcAft>
              <a:defRPr sz="1700">
                <a:solidFill>
                  <a:srgbClr val="C8CDD8"/>
                </a:solidFill>
                <a:latin typeface="Segoe UI"/>
              </a:defRPr>
            </a:pPr>
            <a:r>
              <a:t>▸  Model izleme otomatikleşir, riskler erken tespit edilir</a:t>
            </a:r>
          </a:p>
          <a:p>
            <a:pPr>
              <a:spcAft>
                <a:spcPts val="1400"/>
              </a:spcAft>
              <a:defRPr sz="1700">
                <a:solidFill>
                  <a:srgbClr val="C8CDD8"/>
                </a:solidFill>
                <a:latin typeface="Segoe UI"/>
              </a:defRPr>
            </a:pPr>
            <a:r>
              <a:t>▸  Bilgi transferi profil paylaşımı ile kolaylaşır</a:t>
            </a:r>
          </a:p>
          <a:p>
            <a:pPr>
              <a:spcAft>
                <a:spcPts val="1400"/>
              </a:spcAft>
              <a:defRPr sz="1700">
                <a:solidFill>
                  <a:srgbClr val="C8CDD8"/>
                </a:solidFill>
                <a:latin typeface="Segoe UI"/>
              </a:defRPr>
            </a:pPr>
            <a:r>
              <a:t>▸  Denetim ve raporlama için hazır altyapı sağlar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486400"/>
            <a:ext cx="3931920" cy="36576"/>
          </a:xfrm>
          <a:prstGeom prst="roundRect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DA8FF"/>
                </a:solidFill>
                <a:latin typeface="Segoe UI"/>
              </a:defRPr>
            </a:pPr>
            <a:r>
              <a:rPr dirty="0" err="1"/>
              <a:t>Şimdi</a:t>
            </a:r>
            <a:r>
              <a:rPr dirty="0"/>
              <a:t> </a:t>
            </a:r>
            <a:r>
              <a:rPr dirty="0" err="1"/>
              <a:t>canlı</a:t>
            </a:r>
            <a:r>
              <a:rPr dirty="0"/>
              <a:t> demo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birlikte</a:t>
            </a:r>
            <a:r>
              <a:rPr dirty="0"/>
              <a:t> </a:t>
            </a:r>
            <a:r>
              <a:rPr dirty="0" err="1"/>
              <a:t>görelim</a:t>
            </a:r>
            <a:r>
              <a:rPr dirty="0"/>
              <a:t>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422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İrfan Kaan Algan</cp:lastModifiedBy>
  <cp:revision>1</cp:revision>
  <dcterms:created xsi:type="dcterms:W3CDTF">2013-01-27T09:14:16Z</dcterms:created>
  <dcterms:modified xsi:type="dcterms:W3CDTF">2026-04-02T09:20:22Z</dcterms:modified>
  <cp:category/>
</cp:coreProperties>
</file>